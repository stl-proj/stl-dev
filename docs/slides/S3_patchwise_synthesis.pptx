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6454F"/>
                </a:solidFill>
                <a:latin typeface="Calibri"/>
              </a:rPr>
              <a:t>S3 couples a fine wavelet with a coarse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6454F"/>
                </a:solidFill>
                <a:latin typeface="Calibri"/>
              </a:rPr>
              <a:t>S3(j1, j3) = mean over the coarse pixels of  </a:t>
            </a:r>
            <a:r>
              <a:rPr sz="1600" b="1">
                <a:solidFill>
                  <a:srgbClr val="028090"/>
                </a:solidFill>
                <a:latin typeface="Calibri"/>
              </a:rPr>
              <a:t>ψ_j3 ⋆ D^(n−d) |ψ_j1 ⋆ x|</a:t>
            </a:r>
            <a:r>
              <a:rPr sz="1600" b="1">
                <a:solidFill>
                  <a:srgbClr val="36454F"/>
                </a:solidFill>
                <a:latin typeface="Calibri"/>
              </a:rPr>
              <a:t>  ×  conj(ψ_j3 ⋆ x)</a:t>
            </a:r>
            <a:r>
              <a:rPr sz="1300" b="0">
                <a:solidFill>
                  <a:srgbClr val="6B7780"/>
                </a:solidFill>
                <a:latin typeface="Calibri"/>
              </a:rPr>
              <a:t>     with d the resolution of j1 and n the resolution of j3</a:t>
            </a:r>
          </a:p>
        </p:txBody>
      </p:sp>
      <p:pic>
        <p:nvPicPr>
          <p:cNvPr id="4" name="Picture 3" descr="s3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7400"/>
            <a:ext cx="11064240" cy="31177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4924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6454F"/>
                </a:solidFill>
                <a:latin typeface="Calibri"/>
              </a:rPr>
              <a:t>S1 and S2 live at a single scale: </a:t>
            </a:r>
            <a:r>
              <a:rPr sz="1400" b="0">
                <a:solidFill>
                  <a:srgbClr val="36454F"/>
                </a:solidFill>
                <a:latin typeface="Calibri"/>
              </a:rPr>
              <a:t>they are naturally computed level by level.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6454F"/>
                </a:solidFill>
                <a:latin typeface="Calibri"/>
              </a:rPr>
              <a:t>S3 ties two scales together: </a:t>
            </a:r>
            <a:r>
              <a:rPr sz="1400" b="0">
                <a:solidFill>
                  <a:srgbClr val="36454F"/>
                </a:solidFill>
                <a:latin typeface="Calibri"/>
              </a:rPr>
              <a:t>the gradient of one coarse pixel reads 4^(n−d) fine pixels through the chain, i.e. the whole sky for j1 = 0, j3 = J−1.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349240"/>
            <a:ext cx="5212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6454F"/>
                </a:solidFill>
                <a:latin typeface="Calibri"/>
              </a:rPr>
              <a:t>At nside 2048 (50 M pixels), a single complex field ψ ⋆ x with L = 4 orientations is 3.2 GB, </a:t>
            </a:r>
            <a:r>
              <a:rPr sz="1400" b="1">
                <a:solidFill>
                  <a:srgbClr val="36454F"/>
                </a:solidFill>
                <a:latin typeface="Calibri"/>
              </a:rPr>
              <a:t>and the full-sky convolution geometry 250 GB.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090"/>
                </a:solidFill>
                <a:latin typeface="Calibri"/>
              </a:rPr>
              <a:t>The whole sky cannot be held in memory: it has to be split.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6454F"/>
                </a:solidFill>
                <a:latin typeface="Calibri"/>
              </a:rPr>
              <a:t>Splitting the chain into blocks: linearity does the work</a:t>
            </a:r>
          </a:p>
        </p:txBody>
      </p:sp>
      <p:pic>
        <p:nvPicPr>
          <p:cNvPr id="3" name="Picture 2" descr="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35638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325880"/>
            <a:ext cx="393192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Calibri"/>
              </a:rPr>
              <a:t>After the modulus, everything is linear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6454F"/>
                </a:solidFill>
                <a:latin typeface="Calibri"/>
              </a:rPr>
              <a:t>Decimation and the coarse wavelet are linear operators: the contribution of each fine block F_k is computed on its own and summed at the coarse level.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Calibri"/>
              </a:rPr>
              <a:t>One block at a time, with its halo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6454F"/>
                </a:solidFill>
                <a:latin typeface="Calibri"/>
              </a:rPr>
              <a:t>The halo (a few pixels: wavelet stencil, decimation cone) makes every block exact in its interior; border rows are never used.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Calibri"/>
              </a:rPr>
              <a:t>Same block size at every level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6454F"/>
                </a:solidFill>
                <a:latin typeface="Calibri"/>
              </a:rPr>
              <a:t>Coarse levels smaller than one block are processed whole: the former full-sky computation, where it costs nothing.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780"/>
                </a:solidFill>
                <a:latin typeface="Calibri"/>
              </a:rPr>
              <a:t>Geometry recomputed on the GPU block by block: nothing to store, neither geometry nor full-sky field.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6454F"/>
                </a:solidFill>
                <a:latin typeface="Calibri"/>
              </a:rPr>
              <a:t>An exact gradient assembled by two sweeps</a:t>
            </a:r>
          </a:p>
        </p:txBody>
      </p:sp>
      <p:pic>
        <p:nvPicPr>
          <p:cNvPr id="3" name="Picture 2" descr="swe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766560" cy="32258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25880"/>
            <a:ext cx="41148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Calibri"/>
              </a:rPr>
              <a:t>Global loss, global variable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6454F"/>
                </a:solidFill>
                <a:latin typeface="Calibri"/>
              </a:rPr>
              <a:t>Σ |S(x) − S(target)|² over all families; the whole map is the variable; LBFGS with line search, as in the classical synthesis.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Calibri"/>
              </a:rPr>
              <a:t>Upward: the statistics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6454F"/>
                </a:solidFill>
                <a:latin typeface="Calibri"/>
              </a:rPr>
              <a:t>Level by level, block by block: partial sums of the coefficients, and decimated moduli m[d][n] pushed to the coarser levels (real maps, four times smaller per level).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Calibri"/>
              </a:rPr>
              <a:t>Downward: the gradient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6454F"/>
                </a:solidFill>
                <a:latin typeface="Calibri"/>
              </a:rPr>
              <a:t>Cotangents of the coefficients, then in reverse order: transposes of the chain, modulus derivative, wavelet adjoint, accumulated on the map.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780"/>
                </a:solidFill>
                <a:latin typeface="Calibri"/>
              </a:rPr>
              <a:t>Identical to the full-sky computation to 1e-10; same LBFGS trajectory as the classical synthesis.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6454F"/>
                </a:solidFill>
                <a:latin typeface="Calibri"/>
              </a:rPr>
              <a:t>WebSky: from nside 256 to nside 2048 on a 24 GB GPU</a:t>
            </a:r>
          </a:p>
        </p:txBody>
      </p:sp>
      <p:pic>
        <p:nvPicPr>
          <p:cNvPr id="3" name="Picture 2" descr="loss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669280" cy="34747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92240" y="1371600"/>
          <a:ext cx="5212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731520"/>
                <a:gridCol w="731520"/>
                <a:gridCol w="1005840"/>
                <a:gridCol w="731520"/>
                <a:gridCol w="137160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454F"/>
                          </a:solidFill>
                          <a:latin typeface="Calibri"/>
                        </a:rPr>
                        <a:t>nside</a:t>
                      </a:r>
                    </a:p>
                  </a:txBody>
                  <a:tcPr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454F"/>
                          </a:solidFill>
                          <a:latin typeface="Calibri"/>
                        </a:rPr>
                        <a:t>pixels</a:t>
                      </a:r>
                    </a:p>
                  </a:txBody>
                  <a:tcPr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454F"/>
                          </a:solidFill>
                          <a:latin typeface="Calibri"/>
                        </a:rPr>
                        <a:t>coefs</a:t>
                      </a:r>
                    </a:p>
                  </a:txBody>
                  <a:tcPr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454F"/>
                          </a:solidFill>
                          <a:latin typeface="Calibri"/>
                        </a:rPr>
                        <a:t>per evaluation</a:t>
                      </a:r>
                    </a:p>
                  </a:txBody>
                  <a:tcPr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454F"/>
                          </a:solidFill>
                          <a:latin typeface="Calibri"/>
                        </a:rPr>
                        <a:t>GPU peak</a:t>
                      </a:r>
                    </a:p>
                  </a:txBody>
                  <a:tcPr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454F"/>
                          </a:solidFill>
                          <a:latin typeface="Calibri"/>
                        </a:rPr>
                        <a:t>classical full sky</a:t>
                      </a:r>
                    </a:p>
                  </a:txBody>
                  <a:tcPr>
                    <a:solidFill>
                      <a:srgbClr val="D9EE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0.8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5,882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5.9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3.2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1024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12.6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11,354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108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8.2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16 GB of geometry alone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2048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50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≈ 14,000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≈ 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≈ 10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250 GB: impossible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2240" y="3794760"/>
            <a:ext cx="5212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780"/>
                </a:solidFill>
                <a:latin typeface="Calibri"/>
              </a:rPr>
              <a:t>L = 4 orientations, J = 7 to 9 scales, all families S1 to S4; target: WebSky CMB lensing convergence (Stein et al. 2020).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6454F"/>
                </a:solidFill>
                <a:latin typeface="Calibri"/>
              </a:rPr>
              <a:t>What the curve shows: </a:t>
            </a:r>
            <a:r>
              <a:rPr sz="1400" b="0">
                <a:solidFill>
                  <a:srgbClr val="36454F"/>
                </a:solidFill>
                <a:latin typeface="Calibri"/>
              </a:rPr>
              <a:t>the loss drops by six orders of magnitude; the block-wise gradient is not an approximation, it is the same gradient computed with memory bounded by the block size.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6454F"/>
                </a:solidFill>
                <a:latin typeface="Calibri"/>
              </a:rPr>
              <a:t>Going up in resolution: </a:t>
            </a:r>
            <a:r>
              <a:rPr sz="1400" b="0">
                <a:solidFill>
                  <a:srgbClr val="36454F"/>
                </a:solidFill>
                <a:latin typeface="Calibri"/>
              </a:rPr>
              <a:t>the nside 256 synthesis, replicated on the child pixels plus white noise calibrated on the target, directly initialises the nside 2048 synthesis, which only has to create the small scales.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